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Implementation of Paudel &amp; Bernstein, WWW 2021. This deck recreates the talk and maps every part to the rwe/ codebase.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Ten years ago social media was praised as a democracy enabler; soon after, blamed for polarization. We focus on the diversity of information in personalized recommendations.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Cross-cutting awareness and discussions increase political understanding and participation.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Pre-existing labels / known slants are unreliable; positions change with the issue and event, so we learn them.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Three parts: learn positions, pick a strategy, run RWE.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retweet gives a user→elite endorsement (R) and a user→content endorsement (S); both place everyone on one 1-D scale.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Endorsement probability decreases with squared ideological distance; elite and content models are learned jointly.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Issue-specific positioning is exactly what learning-from-behaviour captures, unlike fixed party labels.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Diversity is calibrated: accurate, strategy-specific, and reachable via weak ties rather than jarring opposite extremes.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 is the single knob; different Q gives different strategies. The framework is open-ended.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Normal k-step walk via the transition matrix, plus an erase matrix Q; at each round the initial-state probabilities are modified by Q.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repeat-forever erasure loop telescopes into a closed form; the denominator is constant per user so it doesn't change the ranking.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plain walk scores i1 and i2 equally; degree-based erasure lowers the high-degree node and raises low-degree ones.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Three evaluation axes: ideology accuracy, long-tail diversity, ideological diversity.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State-of-the-art recommenders from a recent evaluation study.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RWE-B's recommendations span a wider ideological range than the most competitive baselines.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Baselines recommend from the same quadrant; RWE recommends from the opposite quadrants and the centre.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Shift = difference between recommended position and the user's own / training position.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Lower is better except for UW-Range, AUC and HR@10. RWE-B at erasure exponent v ∈ {5, 2, 0.5}.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four contributions, each realised in the rwe/ package.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fixed aggressive strategy flips every user; the adaptive version protects low-tolerance users while still bridging high-tolerance ones.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α-sweep validation: mean satisfaction falls monotonically as confirmation bias rises.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Same goal (expose to opposite views), opposite outcome depending on HOW: bounded 'not too far' bridging lowers polarization; naive opposite-blast raises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Closed-loop controllers watch a signal (ideology drift / satisfaction) and cut the per-user dose when it trends toward backfire — the 'measure it' safeguard turned into code.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What this repository adds on top of the paper.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Acknowledging the Hasler Foundation's support of the original work.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920240"/>
            <a:ext cx="1054577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400" b="1">
                <a:solidFill>
                  <a:srgbClr val="8B1A1A"/>
                </a:solidFill>
              </a:rPr>
              <a:t>Random Walks with Erasure</a:t>
            </a:r>
          </a:p>
          <a:p>
            <a:r>
              <a:rPr sz="2600">
                <a:solidFill>
                  <a:srgbClr val="333333"/>
                </a:solidFill>
              </a:rPr>
              <a:t>Diversifying Personalized Ranking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3840480"/>
            <a:ext cx="10545775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 b="0">
                <a:solidFill>
                  <a:srgbClr val="666666"/>
                </a:solidFill>
              </a:rPr>
              <a:t>Paper: Bibek Paudel (Stanford) · Abraham Bernstein (UZH) — WWW 2021</a:t>
            </a:r>
          </a:p>
          <a:p>
            <a:pPr>
              <a:spcAft>
                <a:spcPts val="600"/>
              </a:spcAft>
            </a:pPr>
            <a:r>
              <a:rPr sz="1700" b="1">
                <a:solidFill>
                  <a:srgbClr val="333333"/>
                </a:solidFill>
              </a:rPr>
              <a:t>Implementation, diagrams &amp; deck:  Sai Sanath Erram · Amrita Vishwa Vidyapeetham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666666"/>
                </a:solidFill>
              </a:rPr>
              <a:t>A slide-by-slide walkthrough mapped to this implementation.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CCCCCC"/>
                </a:solidFill>
              </a:rPr>
              <a:t>Deck recreated from the talk; diagrams + code-mapping by the project.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94415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8B1A1A"/>
                </a:solidFill>
              </a:rPr>
              <a:t>The problem: filter bubbles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70432"/>
            <a:ext cx="11094415" cy="25400"/>
          </a:xfrm>
          <a:prstGeom prst="rect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479040"/>
            <a:ext cx="11094415" cy="33273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100">
                <a:solidFill>
                  <a:srgbClr val="333333"/>
                </a:solidFill>
              </a:rPr>
              <a:t>•  Recommenders show "more of what you already like" → filter bubbles.</a:t>
            </a:r>
          </a:p>
          <a:p>
            <a:pPr>
              <a:spcAft>
                <a:spcPts val="1400"/>
              </a:spcAft>
            </a:pPr>
            <a:r>
              <a:rPr sz="2100">
                <a:solidFill>
                  <a:srgbClr val="333333"/>
                </a:solidFill>
              </a:rPr>
              <a:t>•  2010–13: social media praised as an enabler of democracy and protest.</a:t>
            </a:r>
          </a:p>
          <a:p>
            <a:pPr>
              <a:spcAft>
                <a:spcPts val="1400"/>
              </a:spcAft>
            </a:pPr>
            <a:r>
              <a:rPr sz="2100">
                <a:solidFill>
                  <a:srgbClr val="333333"/>
                </a:solidFill>
              </a:rPr>
              <a:t>•  Then criticised for increasing polarization and harming society.</a:t>
            </a:r>
          </a:p>
          <a:p>
            <a:pPr>
              <a:spcAft>
                <a:spcPts val="1400"/>
              </a:spcAft>
            </a:pPr>
            <a:r>
              <a:rPr sz="2100">
                <a:solidFill>
                  <a:srgbClr val="333333"/>
                </a:solidFill>
              </a:rPr>
              <a:t>•  High polarization → suspicion, hostility, and lower political participation.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5989320"/>
            <a:ext cx="11094415" cy="566928"/>
          </a:xfrm>
          <a:prstGeom prst="roundRect">
            <a:avLst/>
          </a:prstGeom>
          <a:solidFill>
            <a:srgbClr val="EEF5EE"/>
          </a:solidFill>
          <a:ln w="9525">
            <a:solidFill>
              <a:srgbClr val="55A8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2E6B3E"/>
                </a:solidFill>
              </a:rPr>
              <a:t>→ In the code:  </a:t>
            </a:r>
            <a:r>
              <a:rPr sz="1300">
                <a:solidFill>
                  <a:srgbClr val="333333"/>
                </a:solidFill>
              </a:rPr>
              <a:t>motivation captured in GUIDE.md §1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94415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8B1A1A"/>
                </a:solidFill>
              </a:rPr>
              <a:t>How to bridge the divide?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70432"/>
            <a:ext cx="11094415" cy="25400"/>
          </a:xfrm>
          <a:prstGeom prst="rect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767965"/>
            <a:ext cx="11094415" cy="30384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100">
                <a:solidFill>
                  <a:srgbClr val="333333"/>
                </a:solidFill>
              </a:rPr>
              <a:t>•  Cross-cutting awareness = exposure to viewpoints from the other side.</a:t>
            </a:r>
          </a:p>
          <a:p>
            <a:pPr>
              <a:spcAft>
                <a:spcPts val="1400"/>
              </a:spcAft>
            </a:pPr>
            <a:r>
              <a:rPr sz="2100">
                <a:solidFill>
                  <a:srgbClr val="333333"/>
                </a:solidFill>
              </a:rPr>
              <a:t>•  It is linked to greater political understanding and participation.</a:t>
            </a:r>
          </a:p>
          <a:p>
            <a:pPr>
              <a:spcAft>
                <a:spcPts val="1400"/>
              </a:spcAft>
            </a:pPr>
            <a:r>
              <a:rPr sz="2100">
                <a:solidFill>
                  <a:srgbClr val="333333"/>
                </a:solidFill>
              </a:rPr>
              <a:t>•  Goal: recommend content that is relevant AND bridges viewpoints.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5989320"/>
            <a:ext cx="11094415" cy="566928"/>
          </a:xfrm>
          <a:prstGeom prst="roundRect">
            <a:avLst/>
          </a:prstGeom>
          <a:solidFill>
            <a:srgbClr val="EEF5EE"/>
          </a:solidFill>
          <a:ln w="9525">
            <a:solidFill>
              <a:srgbClr val="55A8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2E6B3E"/>
                </a:solidFill>
              </a:rPr>
              <a:t>→ In the code:  </a:t>
            </a:r>
            <a:r>
              <a:rPr sz="1300">
                <a:solidFill>
                  <a:srgbClr val="333333"/>
                </a:solidFill>
              </a:rPr>
              <a:t>RWEB (bridging) + extensions satisfaction.py / agent_sim.py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94415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8B1A1A"/>
                </a:solidFill>
              </a:rPr>
              <a:t>Challenge of political content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70432"/>
            <a:ext cx="11094415" cy="25400"/>
          </a:xfrm>
          <a:prstGeom prst="rect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767965"/>
            <a:ext cx="11094415" cy="30384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100">
                <a:solidFill>
                  <a:srgbClr val="333333"/>
                </a:solidFill>
              </a:rPr>
              <a:t>•  Naive fix: mix outlets by their known slant (e.g. AllSides). Not enough.</a:t>
            </a:r>
          </a:p>
          <a:p>
            <a:pPr>
              <a:spcAft>
                <a:spcPts val="1400"/>
              </a:spcAft>
            </a:pPr>
            <a:r>
              <a:rPr sz="2100">
                <a:solidFill>
                  <a:srgbClr val="333333"/>
                </a:solidFill>
              </a:rPr>
              <a:t>•  Two articles from the SAME outlet were shared by opposite Brexit camps.</a:t>
            </a:r>
          </a:p>
          <a:p>
            <a:pPr>
              <a:spcAft>
                <a:spcPts val="1400"/>
              </a:spcAft>
            </a:pPr>
            <a:r>
              <a:rPr sz="2100">
                <a:solidFill>
                  <a:srgbClr val="333333"/>
                </a:solidFill>
              </a:rPr>
              <a:t>•  Ideological positions are issue/event-specific → must be learned, not labelled.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5989320"/>
            <a:ext cx="11094415" cy="566928"/>
          </a:xfrm>
          <a:prstGeom prst="roundRect">
            <a:avLst/>
          </a:prstGeom>
          <a:solidFill>
            <a:srgbClr val="EEF5EE"/>
          </a:solidFill>
          <a:ln w="9525">
            <a:solidFill>
              <a:srgbClr val="55A8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2E6B3E"/>
                </a:solidFill>
              </a:rPr>
              <a:t>→ In the code:  </a:t>
            </a:r>
            <a:r>
              <a:rPr sz="1300">
                <a:solidFill>
                  <a:srgbClr val="333333"/>
                </a:solidFill>
              </a:rPr>
              <a:t>IdeologyModel.fit(R, S) learns issue-specific positions from behaviour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94415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8B1A1A"/>
                </a:solidFill>
              </a:rPr>
              <a:t>Our approach — three steps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70432"/>
            <a:ext cx="11094415" cy="25400"/>
          </a:xfrm>
          <a:prstGeom prst="rect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767965"/>
            <a:ext cx="11094415" cy="30384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100">
                <a:solidFill>
                  <a:srgbClr val="333333"/>
                </a:solidFill>
              </a:rPr>
              <a:t>•  1. Identify ideological positions of elites AND content from event discussions.</a:t>
            </a:r>
          </a:p>
          <a:p>
            <a:pPr>
              <a:spcAft>
                <a:spcPts val="1400"/>
              </a:spcAft>
            </a:pPr>
            <a:r>
              <a:rPr sz="2100">
                <a:solidFill>
                  <a:srgbClr val="333333"/>
                </a:solidFill>
              </a:rPr>
              <a:t>•  2. Choose a diversification strategy (naive "mix both sides" may fail).</a:t>
            </a:r>
          </a:p>
          <a:p>
            <a:pPr>
              <a:spcAft>
                <a:spcPts val="1400"/>
              </a:spcAft>
            </a:pPr>
            <a:r>
              <a:rPr sz="2100">
                <a:solidFill>
                  <a:srgbClr val="333333"/>
                </a:solidFill>
              </a:rPr>
              <a:t>•  3. Random Walk with Erasure (RWE): recommend diverse content via weak ties.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5989320"/>
            <a:ext cx="11094415" cy="566928"/>
          </a:xfrm>
          <a:prstGeom prst="roundRect">
            <a:avLst/>
          </a:prstGeom>
          <a:solidFill>
            <a:srgbClr val="EEF5EE"/>
          </a:solidFill>
          <a:ln w="9525">
            <a:solidFill>
              <a:srgbClr val="55A8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2E6B3E"/>
                </a:solidFill>
              </a:rPr>
              <a:t>→ In the code:  </a:t>
            </a:r>
            <a:r>
              <a:rPr sz="1300">
                <a:solidFill>
                  <a:srgbClr val="333333"/>
                </a:solidFill>
              </a:rPr>
              <a:t>ideology.py  ·  RWED / RWEB  ·  RWE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94415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8B1A1A"/>
                </a:solidFill>
              </a:rPr>
              <a:t>Ideology of users, elites &amp; content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70432"/>
            <a:ext cx="11094415" cy="25400"/>
          </a:xfrm>
          <a:prstGeom prst="rect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11094415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</a:rPr>
              <a:t>•  Each retweet yields three roles: User (retweeter), Elite (author), Content (URL).</a:t>
            </a:r>
          </a:p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</a:rPr>
              <a:t>•  Two graphs: elite-endorsement R and content-share S.</a:t>
            </a:r>
          </a:p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</a:rPr>
              <a:t>•  Place users, elites and content on one shared left–right scale.</a:t>
            </a:r>
          </a:p>
        </p:txBody>
      </p:sp>
      <p:pic>
        <p:nvPicPr>
          <p:cNvPr id="5" name="Picture 4" descr="ideology_sca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36240" y="3063240"/>
            <a:ext cx="7319214" cy="278892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48640" y="5989320"/>
            <a:ext cx="11094415" cy="566928"/>
          </a:xfrm>
          <a:prstGeom prst="roundRect">
            <a:avLst/>
          </a:prstGeom>
          <a:solidFill>
            <a:srgbClr val="EEF5EE"/>
          </a:solidFill>
          <a:ln w="9525">
            <a:solidFill>
              <a:srgbClr val="55A8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2E6B3E"/>
                </a:solidFill>
              </a:rPr>
              <a:t>→ In the code:  </a:t>
            </a:r>
            <a:r>
              <a:rPr sz="1300">
                <a:solidFill>
                  <a:srgbClr val="333333"/>
                </a:solidFill>
              </a:rPr>
              <a:t>IdeologyModel.fit(R, S) → positions θ (users), φ (elites), ψ (content)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94415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8B1A1A"/>
                </a:solidFill>
              </a:rPr>
              <a:t>Ideal-point model + joint learning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70432"/>
            <a:ext cx="11094415" cy="25400"/>
          </a:xfrm>
          <a:prstGeom prst="rect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190115"/>
            <a:ext cx="11094415" cy="3616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100">
                <a:solidFill>
                  <a:srgbClr val="333333"/>
                </a:solidFill>
              </a:rPr>
              <a:t>•  Elite:    p(R=1) = σ( −‖θ_u − φ_e‖² + α_u + β_e )</a:t>
            </a:r>
          </a:p>
          <a:p>
            <a:pPr>
              <a:spcAft>
                <a:spcPts val="1400"/>
              </a:spcAft>
            </a:pPr>
            <a:r>
              <a:rPr sz="2100">
                <a:solidFill>
                  <a:srgbClr val="333333"/>
                </a:solidFill>
              </a:rPr>
              <a:t>•  Content:  p(S=1) = σ( −‖θ_u − ψ_c‖² + α_u + γ_c )</a:t>
            </a:r>
          </a:p>
          <a:p>
            <a:pPr>
              <a:spcAft>
                <a:spcPts val="1400"/>
              </a:spcAft>
            </a:pPr>
            <a:r>
              <a:rPr sz="1900">
                <a:solidFill>
                  <a:srgbClr val="666666"/>
                </a:solidFill>
              </a:rPr>
              <a:t>       –  Closer ideology ⇒ more likely to endorse.</a:t>
            </a:r>
          </a:p>
          <a:p>
            <a:pPr>
              <a:spcAft>
                <a:spcPts val="1400"/>
              </a:spcAft>
            </a:pPr>
            <a:r>
              <a:rPr sz="2100">
                <a:solidFill>
                  <a:srgbClr val="333333"/>
                </a:solidFill>
              </a:rPr>
              <a:t>•  Joint objective: maximise  μ·Σ_R[·] + Σ_S[·]  −  (λ/2)(‖θ‖²+‖φ‖²+‖ψ‖²)</a:t>
            </a:r>
          </a:p>
          <a:p>
            <a:pPr>
              <a:spcAft>
                <a:spcPts val="1400"/>
              </a:spcAft>
            </a:pPr>
            <a:r>
              <a:rPr sz="2100">
                <a:solidFill>
                  <a:srgbClr val="333333"/>
                </a:solidFill>
              </a:rPr>
              <a:t>•  ⟹ sim(u, c): similarity of political stance.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5989320"/>
            <a:ext cx="11094415" cy="566928"/>
          </a:xfrm>
          <a:prstGeom prst="roundRect">
            <a:avLst/>
          </a:prstGeom>
          <a:solidFill>
            <a:srgbClr val="EEF5EE"/>
          </a:solidFill>
          <a:ln w="9525">
            <a:solidFill>
              <a:srgbClr val="55A8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2E6B3E"/>
                </a:solidFill>
              </a:rPr>
              <a:t>→ In the code:  </a:t>
            </a:r>
            <a:r>
              <a:rPr sz="1300">
                <a:solidFill>
                  <a:srgbClr val="333333"/>
                </a:solidFill>
              </a:rPr>
              <a:t>ideology.py: Pi_R / Pi_S (eqs 6/9), _objective (eq 11); sim = RWEB.similarity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94415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8B1A1A"/>
                </a:solidFill>
              </a:rPr>
              <a:t>Estimated positions (results)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70432"/>
            <a:ext cx="11094415" cy="25400"/>
          </a:xfrm>
          <a:prstGeom prst="rect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767965"/>
            <a:ext cx="11094415" cy="30384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100">
                <a:solidFill>
                  <a:srgbClr val="333333"/>
                </a:solidFill>
              </a:rPr>
              <a:t>•  Recovers left/right correctly across UK, US and Germany.</a:t>
            </a:r>
          </a:p>
          <a:p>
            <a:pPr>
              <a:spcAft>
                <a:spcPts val="1400"/>
              </a:spcAft>
            </a:pPr>
            <a:r>
              <a:rPr sz="2100">
                <a:solidFill>
                  <a:srgbClr val="333333"/>
                </a:solidFill>
              </a:rPr>
              <a:t>•  Captures issue-specific cases (e.g. Conservatives who backed Remain → left).</a:t>
            </a:r>
          </a:p>
          <a:p>
            <a:pPr>
              <a:spcAft>
                <a:spcPts val="1400"/>
              </a:spcAft>
            </a:pPr>
            <a:r>
              <a:rPr sz="2100">
                <a:solidFill>
                  <a:srgbClr val="333333"/>
                </a:solidFill>
              </a:rPr>
              <a:t>•  Joint learning (elite + content) beats elite-endorsement alone.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5989320"/>
            <a:ext cx="11094415" cy="566928"/>
          </a:xfrm>
          <a:prstGeom prst="roundRect">
            <a:avLst/>
          </a:prstGeom>
          <a:solidFill>
            <a:srgbClr val="EEF5EE"/>
          </a:solidFill>
          <a:ln w="9525">
            <a:solidFill>
              <a:srgbClr val="55A8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2E6B3E"/>
                </a:solidFill>
              </a:rPr>
              <a:t>→ In the code:  </a:t>
            </a:r>
            <a:r>
              <a:rPr sz="1300">
                <a:solidFill>
                  <a:srgbClr val="333333"/>
                </a:solidFill>
              </a:rPr>
              <a:t>validated on synthetic data (real Twitter data not shareable) — demo_synthetic.py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94415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8B1A1A"/>
                </a:solidFill>
              </a:rPr>
              <a:t>Normative goals for diversification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70432"/>
            <a:ext cx="11094415" cy="25400"/>
          </a:xfrm>
          <a:prstGeom prst="rect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767965"/>
            <a:ext cx="11094415" cy="30384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100">
                <a:solidFill>
                  <a:srgbClr val="333333"/>
                </a:solidFill>
              </a:rPr>
              <a:t>•  Personalized: high accuracy.</a:t>
            </a:r>
          </a:p>
          <a:p>
            <a:pPr>
              <a:spcAft>
                <a:spcPts val="1400"/>
              </a:spcAft>
            </a:pPr>
            <a:r>
              <a:rPr sz="2100">
                <a:solidFill>
                  <a:srgbClr val="333333"/>
                </a:solidFill>
              </a:rPr>
              <a:t>•  Long-tail: expose users to more low-degree items.</a:t>
            </a:r>
          </a:p>
          <a:p>
            <a:pPr>
              <a:spcAft>
                <a:spcPts val="1400"/>
              </a:spcAft>
            </a:pPr>
            <a:r>
              <a:rPr sz="2100">
                <a:solidFill>
                  <a:srgbClr val="333333"/>
                </a:solidFill>
              </a:rPr>
              <a:t>•  Bridging: show the other side — but not too polarizing — via weak-tie "bridges".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5989320"/>
            <a:ext cx="11094415" cy="566928"/>
          </a:xfrm>
          <a:prstGeom prst="roundRect">
            <a:avLst/>
          </a:prstGeom>
          <a:solidFill>
            <a:srgbClr val="EEF5EE"/>
          </a:solidFill>
          <a:ln w="9525">
            <a:solidFill>
              <a:srgbClr val="55A8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2E6B3E"/>
                </a:solidFill>
              </a:rPr>
              <a:t>→ In the code:  </a:t>
            </a:r>
            <a:r>
              <a:rPr sz="1300">
                <a:solidFill>
                  <a:srgbClr val="333333"/>
                </a:solidFill>
              </a:rPr>
              <a:t>accuracy metrics · RWED · RWEB (max_distance = "not too far")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94415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8B1A1A"/>
                </a:solidFill>
              </a:rPr>
              <a:t>Diversification strategies — the erase matrix Q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70432"/>
            <a:ext cx="11094415" cy="25400"/>
          </a:xfrm>
          <a:prstGeom prst="rect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190115"/>
            <a:ext cx="11094415" cy="3616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100">
                <a:solidFill>
                  <a:srgbClr val="333333"/>
                </a:solidFill>
              </a:rPr>
              <a:t>•  Q on the user-item graph prefers certain random walks over others.</a:t>
            </a:r>
          </a:p>
          <a:p>
            <a:pPr>
              <a:spcAft>
                <a:spcPts val="1400"/>
              </a:spcAft>
            </a:pPr>
            <a:r>
              <a:rPr sz="1900">
                <a:solidFill>
                  <a:srgbClr val="666666"/>
                </a:solidFill>
              </a:rPr>
              <a:t>       –  Example I — Bridging: items on the opposite side of the user.</a:t>
            </a:r>
          </a:p>
          <a:p>
            <a:pPr>
              <a:spcAft>
                <a:spcPts val="1400"/>
              </a:spcAft>
            </a:pPr>
            <a:r>
              <a:rPr sz="1900">
                <a:solidFill>
                  <a:srgbClr val="666666"/>
                </a:solidFill>
              </a:rPr>
              <a:t>       –  Example II — Long-tail: low-degree items.</a:t>
            </a:r>
          </a:p>
          <a:p>
            <a:pPr>
              <a:spcAft>
                <a:spcPts val="1400"/>
              </a:spcAft>
            </a:pPr>
            <a:r>
              <a:rPr sz="1900">
                <a:solidFill>
                  <a:srgbClr val="666666"/>
                </a:solidFill>
              </a:rPr>
              <a:t>       –  Example III — Contrarian: items opposite to the user.</a:t>
            </a:r>
          </a:p>
          <a:p>
            <a:pPr>
              <a:spcAft>
                <a:spcPts val="1400"/>
              </a:spcAft>
            </a:pPr>
            <a:r>
              <a:rPr sz="2100">
                <a:solidFill>
                  <a:srgbClr val="333333"/>
                </a:solidFill>
              </a:rPr>
              <a:t>•  Generalized framework: any property defined on items or user-item pairs.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5989320"/>
            <a:ext cx="11094415" cy="566928"/>
          </a:xfrm>
          <a:prstGeom prst="roundRect">
            <a:avLst/>
          </a:prstGeom>
          <a:solidFill>
            <a:srgbClr val="EEF5EE"/>
          </a:solidFill>
          <a:ln w="9525">
            <a:solidFill>
              <a:srgbClr val="55A8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2E6B3E"/>
                </a:solidFill>
              </a:rPr>
              <a:t>→ In the code:  </a:t>
            </a:r>
            <a:r>
              <a:rPr sz="1300">
                <a:solidFill>
                  <a:srgbClr val="333333"/>
                </a:solidFill>
              </a:rPr>
              <a:t>RWE(item_erasure=…): RWEB · RWED · or any callable (contrarian = one-liner)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94415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8B1A1A"/>
                </a:solidFill>
              </a:rPr>
              <a:t>Random Walk with Erasure — the algorithm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70432"/>
            <a:ext cx="11094415" cy="25400"/>
          </a:xfrm>
          <a:prstGeom prst="rect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11094415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</a:rPr>
              <a:t>•  Bipartite graph: m users, n items; k-step transitions Pᵏ.</a:t>
            </a:r>
          </a:p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</a:rPr>
              <a:t>•  Erase matrix Q ∈ [0,1)^{(m+n)×(m+n)}.</a:t>
            </a:r>
          </a:p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</a:rPr>
              <a:t>•  Sample multiple rounds; erased mass becomes the next round's start.</a:t>
            </a:r>
          </a:p>
        </p:txBody>
      </p:sp>
      <p:pic>
        <p:nvPicPr>
          <p:cNvPr id="5" name="Picture 4" descr="bipartite_grap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84236" y="3063239"/>
            <a:ext cx="4223221" cy="278892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48640" y="5989320"/>
            <a:ext cx="11094415" cy="566928"/>
          </a:xfrm>
          <a:prstGeom prst="roundRect">
            <a:avLst/>
          </a:prstGeom>
          <a:solidFill>
            <a:srgbClr val="EEF5EE"/>
          </a:solidFill>
          <a:ln w="9525">
            <a:solidFill>
              <a:srgbClr val="55A8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2E6B3E"/>
                </a:solidFill>
              </a:rPr>
              <a:t>→ In the code:  </a:t>
            </a:r>
            <a:r>
              <a:rPr sz="1300">
                <a:solidFill>
                  <a:srgbClr val="333333"/>
                </a:solidFill>
              </a:rPr>
              <a:t>FeedbackGraph (A^G, P=D⁻¹A^G); item_distribution(users, k)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94415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8B1A1A"/>
                </a:solidFill>
              </a:rPr>
              <a:t>How erasure steers recommendations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70432"/>
            <a:ext cx="11094415" cy="25400"/>
          </a:xfrm>
          <a:prstGeom prst="rect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11094415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</a:rPr>
              <a:t>•  Score(item) = p·(1−q) / (1 − Σ p·q)   —   the mass that survives the "tax".</a:t>
            </a:r>
          </a:p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</a:rPr>
              <a:t>•  High tax q ⇒ suppressed;  low tax q ⇒ recommended.</a:t>
            </a:r>
          </a:p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</a:rPr>
              <a:t>•  Final score:  w_s = Σᵢ v_{s,i} Pᵏ ∘ (1 − Q).</a:t>
            </a:r>
          </a:p>
        </p:txBody>
      </p:sp>
      <p:pic>
        <p:nvPicPr>
          <p:cNvPr id="5" name="Picture 4" descr="rwe_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18094" y="3063240"/>
            <a:ext cx="5155506" cy="2788919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48640" y="5989320"/>
            <a:ext cx="11094415" cy="566928"/>
          </a:xfrm>
          <a:prstGeom prst="roundRect">
            <a:avLst/>
          </a:prstGeom>
          <a:solidFill>
            <a:srgbClr val="EEF5EE"/>
          </a:solidFill>
          <a:ln w="9525">
            <a:solidFill>
              <a:srgbClr val="55A8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2E6B3E"/>
                </a:solidFill>
              </a:rPr>
              <a:t>→ In the code:  </a:t>
            </a:r>
            <a:r>
              <a:rPr sz="1300">
                <a:solidFill>
                  <a:srgbClr val="333333"/>
                </a:solidFill>
              </a:rPr>
              <a:t>RWE.score_iterative (rounds) == derived closed form; tested to match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94415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8B1A1A"/>
                </a:solidFill>
              </a:rPr>
              <a:t>Long-tail worked example (reproduced)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70432"/>
            <a:ext cx="11094415" cy="25400"/>
          </a:xfrm>
          <a:prstGeom prst="rect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479040"/>
            <a:ext cx="11094415" cy="33273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100">
                <a:solidFill>
                  <a:srgbClr val="333333"/>
                </a:solidFill>
              </a:rPr>
              <a:t>•  Pᵏ_{u₄,i*} = [0.16, 0.16, 0.66];   Q = 1 − [1/3, 1/2, 1/2] = [0.66, 0.5, 0.5].</a:t>
            </a:r>
          </a:p>
          <a:p>
            <a:pPr>
              <a:spcAft>
                <a:spcPts val="1400"/>
              </a:spcAft>
            </a:pPr>
            <a:r>
              <a:rPr sz="2100">
                <a:solidFill>
                  <a:srgbClr val="333333"/>
                </a:solidFill>
              </a:rPr>
              <a:t>•  Erased = Pᵏ ∘ Q;  start mass falls  1 → 0.51 → 0.26  across rounds.</a:t>
            </a:r>
          </a:p>
          <a:p>
            <a:pPr>
              <a:spcAft>
                <a:spcPts val="1400"/>
              </a:spcAft>
            </a:pPr>
            <a:r>
              <a:rPr sz="2100">
                <a:solidFill>
                  <a:srgbClr val="333333"/>
                </a:solidFill>
              </a:rPr>
              <a:t>•  Suppresses the high-degree item, lifts the low-degree ones.</a:t>
            </a:r>
          </a:p>
          <a:p>
            <a:pPr>
              <a:spcAft>
                <a:spcPts val="1400"/>
              </a:spcAft>
            </a:pPr>
            <a:r>
              <a:rPr sz="2100">
                <a:solidFill>
                  <a:srgbClr val="333333"/>
                </a:solidFill>
              </a:rPr>
              <a:t>•  Our code reproduces these numbers to the decimal.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5989320"/>
            <a:ext cx="11094415" cy="566928"/>
          </a:xfrm>
          <a:prstGeom prst="roundRect">
            <a:avLst/>
          </a:prstGeom>
          <a:solidFill>
            <a:srgbClr val="EEF5EE"/>
          </a:solidFill>
          <a:ln w="9525">
            <a:solidFill>
              <a:srgbClr val="55A8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2E6B3E"/>
                </a:solidFill>
              </a:rPr>
              <a:t>→ In the code:  </a:t>
            </a:r>
            <a:r>
              <a:rPr sz="1300">
                <a:solidFill>
                  <a:srgbClr val="333333"/>
                </a:solidFill>
              </a:rPr>
              <a:t>RWED (β=1) via score_iterative — verified against the slide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94415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8B1A1A"/>
                </a:solidFill>
              </a:rPr>
              <a:t>Experimental evaluation — three questions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70432"/>
            <a:ext cx="11094415" cy="25400"/>
          </a:xfrm>
          <a:prstGeom prst="rect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767965"/>
            <a:ext cx="11094415" cy="30384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100">
                <a:solidFill>
                  <a:srgbClr val="333333"/>
                </a:solidFill>
              </a:rPr>
              <a:t>•  Q1. Does joint learning identify ideological positions accurately?</a:t>
            </a:r>
          </a:p>
          <a:p>
            <a:pPr>
              <a:spcAft>
                <a:spcPts val="1400"/>
              </a:spcAft>
            </a:pPr>
            <a:r>
              <a:rPr sz="2100">
                <a:solidFill>
                  <a:srgbClr val="333333"/>
                </a:solidFill>
              </a:rPr>
              <a:t>•  Q2. Can RWE generate accurate AND diverse long-tail recommendations?</a:t>
            </a:r>
          </a:p>
          <a:p>
            <a:pPr>
              <a:spcAft>
                <a:spcPts val="1400"/>
              </a:spcAft>
            </a:pPr>
            <a:r>
              <a:rPr sz="2100">
                <a:solidFill>
                  <a:srgbClr val="333333"/>
                </a:solidFill>
              </a:rPr>
              <a:t>•  Q3. Can RWE generate accurate AND ideologically diverse recommendations?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5989320"/>
            <a:ext cx="11094415" cy="566928"/>
          </a:xfrm>
          <a:prstGeom prst="roundRect">
            <a:avLst/>
          </a:prstGeom>
          <a:solidFill>
            <a:srgbClr val="EEF5EE"/>
          </a:solidFill>
          <a:ln w="9525">
            <a:solidFill>
              <a:srgbClr val="55A8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2E6B3E"/>
                </a:solidFill>
              </a:rPr>
              <a:t>→ In the code:  </a:t>
            </a:r>
            <a:r>
              <a:rPr sz="1300">
                <a:solidFill>
                  <a:srgbClr val="333333"/>
                </a:solidFill>
              </a:rPr>
              <a:t>IdeologyModel · RWED · RWEB  +  metrics.py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94415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8B1A1A"/>
                </a:solidFill>
              </a:rPr>
              <a:t>Datasets &amp; baselines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70432"/>
            <a:ext cx="11094415" cy="25400"/>
          </a:xfrm>
          <a:prstGeom prst="rect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479040"/>
            <a:ext cx="11094415" cy="33273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100">
                <a:solidFill>
                  <a:srgbClr val="333333"/>
                </a:solidFill>
              </a:rPr>
              <a:t>•  6 Twitter graphs: UK / US / DE × {retweets (RT), URL shares}.</a:t>
            </a:r>
          </a:p>
          <a:p>
            <a:pPr>
              <a:spcAft>
                <a:spcPts val="1400"/>
              </a:spcAft>
            </a:pPr>
            <a:r>
              <a:rPr sz="2100">
                <a:solidFill>
                  <a:srgbClr val="333333"/>
                </a:solidFill>
              </a:rPr>
              <a:t>•  Plus benchmarks ML-1M and Yelp for long-tail diversity.</a:t>
            </a:r>
          </a:p>
          <a:p>
            <a:pPr>
              <a:spcAft>
                <a:spcPts val="1400"/>
              </a:spcAft>
            </a:pPr>
            <a:r>
              <a:rPr sz="2100">
                <a:solidFill>
                  <a:srgbClr val="333333"/>
                </a:solidFill>
              </a:rPr>
              <a:t>•  Baselines (RecSys'19 study): Collaborative Filtering, Matrix Factorization,</a:t>
            </a:r>
          </a:p>
          <a:p>
            <a:pPr>
              <a:spcAft>
                <a:spcPts val="1400"/>
              </a:spcAft>
            </a:pPr>
            <a:r>
              <a:rPr sz="1900">
                <a:solidFill>
                  <a:srgbClr val="666666"/>
                </a:solidFill>
              </a:rPr>
              <a:t>       –  graph-based P³, and long-tail-diversifying RP³_β.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5989320"/>
            <a:ext cx="11094415" cy="566928"/>
          </a:xfrm>
          <a:prstGeom prst="roundRect">
            <a:avLst/>
          </a:prstGeom>
          <a:solidFill>
            <a:srgbClr val="EEF5EE"/>
          </a:solidFill>
          <a:ln w="9525">
            <a:solidFill>
              <a:srgbClr val="55A8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2E6B3E"/>
                </a:solidFill>
              </a:rPr>
              <a:t>→ In the code:  </a:t>
            </a:r>
            <a:r>
              <a:rPr sz="1300">
                <a:solidFill>
                  <a:srgbClr val="333333"/>
                </a:solidFill>
              </a:rPr>
              <a:t>ItemKNN · BPRMF · P3 · RP3Beta;  data.py (synthetic stand-ins for private data)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94415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8B1A1A"/>
                </a:solidFill>
              </a:rPr>
              <a:t>Result I — ideological range of top-10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70432"/>
            <a:ext cx="11094415" cy="25400"/>
          </a:xfrm>
          <a:prstGeom prst="rect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767965"/>
            <a:ext cx="11094415" cy="30384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100">
                <a:solidFill>
                  <a:srgbClr val="333333"/>
                </a:solidFill>
              </a:rPr>
              <a:t>•  Average spread of ideological positions in the top-10 list.</a:t>
            </a:r>
          </a:p>
          <a:p>
            <a:pPr>
              <a:spcAft>
                <a:spcPts val="1400"/>
              </a:spcAft>
            </a:pPr>
            <a:r>
              <a:rPr sz="2100">
                <a:solidFill>
                  <a:srgbClr val="333333"/>
                </a:solidFill>
              </a:rPr>
              <a:t>•  RWE-B has the widest range on all but the smallest dataset.</a:t>
            </a:r>
          </a:p>
          <a:p>
            <a:pPr>
              <a:spcAft>
                <a:spcPts val="1400"/>
              </a:spcAft>
            </a:pPr>
            <a:r>
              <a:rPr sz="1900">
                <a:solidFill>
                  <a:srgbClr val="666666"/>
                </a:solidFill>
              </a:rPr>
              <a:t>       –  → more viewpoint-spread per recommendation list.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5989320"/>
            <a:ext cx="11094415" cy="566928"/>
          </a:xfrm>
          <a:prstGeom prst="roundRect">
            <a:avLst/>
          </a:prstGeom>
          <a:solidFill>
            <a:srgbClr val="EEF5EE"/>
          </a:solidFill>
          <a:ln w="9525">
            <a:solidFill>
              <a:srgbClr val="55A8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2E6B3E"/>
                </a:solidFill>
              </a:rPr>
              <a:t>→ In the code:  </a:t>
            </a:r>
            <a:r>
              <a:rPr sz="1300">
                <a:solidFill>
                  <a:srgbClr val="333333"/>
                </a:solidFill>
              </a:rPr>
              <a:t>metrics.rec_range_at_k  (reported as rec_range@10)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94415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8B1A1A"/>
                </a:solidFill>
              </a:rPr>
              <a:t>Result II — ideological diversity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70432"/>
            <a:ext cx="11094415" cy="25400"/>
          </a:xfrm>
          <a:prstGeom prst="rect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11094415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</a:rPr>
              <a:t>•  x = user position, y = mean recommended position (each dot a user).</a:t>
            </a:r>
          </a:p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</a:rPr>
              <a:t>•  Baselines keep users on their OWN side (dots on the diagonal).</a:t>
            </a:r>
          </a:p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</a:rPr>
              <a:t>•  RWE moves recommendations to the OPPOSITE quadrant / centre.</a:t>
            </a:r>
          </a:p>
        </p:txBody>
      </p:sp>
      <p:pic>
        <p:nvPicPr>
          <p:cNvPr id="5" name="Picture 4" descr="quadrant_scat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28214" y="3063240"/>
            <a:ext cx="5135265" cy="278892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48640" y="5989320"/>
            <a:ext cx="11094415" cy="566928"/>
          </a:xfrm>
          <a:prstGeom prst="roundRect">
            <a:avLst/>
          </a:prstGeom>
          <a:solidFill>
            <a:srgbClr val="EEF5EE"/>
          </a:solidFill>
          <a:ln w="9525">
            <a:solidFill>
              <a:srgbClr val="55A8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2E6B3E"/>
                </a:solidFill>
              </a:rPr>
              <a:t>→ In the code:  </a:t>
            </a:r>
            <a:r>
              <a:rPr sz="1300">
                <a:solidFill>
                  <a:srgbClr val="333333"/>
                </a:solidFill>
              </a:rPr>
              <a:t>docs/make_diagrams.py quadrant_scatter — metrics.mean_recommended_position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94415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8B1A1A"/>
                </a:solidFill>
              </a:rPr>
              <a:t>Result III — ideological shift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70432"/>
            <a:ext cx="11094415" cy="25400"/>
          </a:xfrm>
          <a:prstGeom prst="rect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767965"/>
            <a:ext cx="11094415" cy="30384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100">
                <a:solidFill>
                  <a:srgbClr val="333333"/>
                </a:solidFill>
              </a:rPr>
              <a:t>•  User-Shift = Pos(Recs) − Pos(u);   Train-Shift = Pos(Recs) − Pos(Train).</a:t>
            </a:r>
          </a:p>
          <a:p>
            <a:pPr>
              <a:spcAft>
                <a:spcPts val="1400"/>
              </a:spcAft>
            </a:pPr>
            <a:r>
              <a:rPr sz="2100">
                <a:solidFill>
                  <a:srgbClr val="333333"/>
                </a:solidFill>
              </a:rPr>
              <a:t>•  Left users shift right, right users shift left.</a:t>
            </a:r>
          </a:p>
          <a:p>
            <a:pPr>
              <a:spcAft>
                <a:spcPts val="1400"/>
              </a:spcAft>
            </a:pPr>
            <a:r>
              <a:rPr sz="2100">
                <a:solidFill>
                  <a:srgbClr val="333333"/>
                </a:solidFill>
              </a:rPr>
              <a:t>•  RWE shows the strongest, cleanest shift toward the opposite side.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5989320"/>
            <a:ext cx="11094415" cy="566928"/>
          </a:xfrm>
          <a:prstGeom prst="roundRect">
            <a:avLst/>
          </a:prstGeom>
          <a:solidFill>
            <a:srgbClr val="EEF5EE"/>
          </a:solidFill>
          <a:ln w="9525">
            <a:solidFill>
              <a:srgbClr val="55A8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2E6B3E"/>
                </a:solidFill>
              </a:rPr>
              <a:t>→ In the code:  </a:t>
            </a:r>
            <a:r>
              <a:rPr sz="1300">
                <a:solidFill>
                  <a:srgbClr val="333333"/>
                </a:solidFill>
              </a:rPr>
              <a:t>metrics.ideological_shift (exact definition) → directed_shift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94415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8B1A1A"/>
                </a:solidFill>
              </a:rPr>
              <a:t>Result IV — weighted ideological diversity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70432"/>
            <a:ext cx="11094415" cy="25400"/>
          </a:xfrm>
          <a:prstGeom prst="rect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767965"/>
            <a:ext cx="11094415" cy="30384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100">
                <a:solidFill>
                  <a:srgbClr val="333333"/>
                </a:solidFill>
              </a:rPr>
              <a:t>•  Two properties: lean toward centre (per user); wider range for extremes.</a:t>
            </a:r>
          </a:p>
          <a:p>
            <a:pPr>
              <a:spcAft>
                <a:spcPts val="1400"/>
              </a:spcAft>
            </a:pPr>
            <a:r>
              <a:rPr sz="2100">
                <a:solidFill>
                  <a:srgbClr val="333333"/>
                </a:solidFill>
              </a:rPr>
              <a:t>•  Measures UW / TW (weighted by user / training position): Recs, Shift, Range.</a:t>
            </a:r>
          </a:p>
          <a:p>
            <a:pPr>
              <a:spcAft>
                <a:spcPts val="1400"/>
              </a:spcAft>
            </a:pPr>
            <a:r>
              <a:rPr sz="2100">
                <a:solidFill>
                  <a:srgbClr val="333333"/>
                </a:solidFill>
              </a:rPr>
              <a:t>•  RWE-B is best on all three — while keeping accuracy (AUC, HR@10) on par.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5989320"/>
            <a:ext cx="11094415" cy="566928"/>
          </a:xfrm>
          <a:prstGeom prst="roundRect">
            <a:avLst/>
          </a:prstGeom>
          <a:solidFill>
            <a:srgbClr val="EEF5EE"/>
          </a:solidFill>
          <a:ln w="9525">
            <a:solidFill>
              <a:srgbClr val="55A8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2E6B3E"/>
                </a:solidFill>
              </a:rPr>
              <a:t>→ In the code:  </a:t>
            </a:r>
            <a:r>
              <a:rPr sz="1300">
                <a:solidFill>
                  <a:srgbClr val="333333"/>
                </a:solidFill>
              </a:rPr>
              <a:t>weighted_position (UW/TW-Recs) · weighted_shift · weighted_range — uw_* in evaluate()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94415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8B1A1A"/>
                </a:solidFill>
              </a:rPr>
              <a:t>Contributions &amp; main results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70432"/>
            <a:ext cx="11094415" cy="25400"/>
          </a:xfrm>
          <a:prstGeom prst="rect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479040"/>
            <a:ext cx="11094415" cy="33273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100">
                <a:solidFill>
                  <a:srgbClr val="333333"/>
                </a:solidFill>
              </a:rPr>
              <a:t>•  A probabilistic model to estimate ideological positions (users, elites, content).</a:t>
            </a:r>
          </a:p>
          <a:p>
            <a:pPr>
              <a:spcAft>
                <a:spcPts val="1400"/>
              </a:spcAft>
            </a:pPr>
            <a:r>
              <a:rPr sz="2100">
                <a:solidFill>
                  <a:srgbClr val="333333"/>
                </a:solidFill>
              </a:rPr>
              <a:t>•  Personalized ranking based on RWE.</a:t>
            </a:r>
          </a:p>
          <a:p>
            <a:pPr>
              <a:spcAft>
                <a:spcPts val="1400"/>
              </a:spcAft>
            </a:pPr>
            <a:r>
              <a:rPr sz="2100">
                <a:solidFill>
                  <a:srgbClr val="333333"/>
                </a:solidFill>
              </a:rPr>
              <a:t>•  Two diversification strategies: long-tail and political bridging.</a:t>
            </a:r>
          </a:p>
          <a:p>
            <a:pPr>
              <a:spcAft>
                <a:spcPts val="1400"/>
              </a:spcAft>
            </a:pPr>
            <a:r>
              <a:rPr sz="2100">
                <a:solidFill>
                  <a:srgbClr val="333333"/>
                </a:solidFill>
              </a:rPr>
              <a:t>•  A general framework to diversify personalized ranking.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5989320"/>
            <a:ext cx="11094415" cy="566928"/>
          </a:xfrm>
          <a:prstGeom prst="roundRect">
            <a:avLst/>
          </a:prstGeom>
          <a:solidFill>
            <a:srgbClr val="EEF5EE"/>
          </a:solidFill>
          <a:ln w="9525">
            <a:solidFill>
              <a:srgbClr val="55A8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2E6B3E"/>
                </a:solidFill>
              </a:rPr>
              <a:t>→ In the code:  </a:t>
            </a:r>
            <a:r>
              <a:rPr sz="1300">
                <a:solidFill>
                  <a:srgbClr val="333333"/>
                </a:solidFill>
              </a:rPr>
              <a:t>ideology.py · RWE · RWED/RWEB · RWE(item_erasure=…)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94415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8B1A1A"/>
                </a:solidFill>
              </a:rPr>
              <a:t>Beyond the paper — adaptive exposure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70432"/>
            <a:ext cx="11094415" cy="25400"/>
          </a:xfrm>
          <a:prstGeom prst="rect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11094415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</a:rPr>
              <a:t>•  Our extension: tailor how much opposing content each user sees.</a:t>
            </a:r>
          </a:p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</a:rPr>
              <a:t>•  Satisfaction score = pages read in the first opposing community before exiting.</a:t>
            </a:r>
          </a:p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</a:rPr>
              <a:t>•  Higher tolerance → more opposing content surfaced (AdaptiveRWEB).</a:t>
            </a:r>
          </a:p>
        </p:txBody>
      </p:sp>
      <p:pic>
        <p:nvPicPr>
          <p:cNvPr id="5" name="Picture 4" descr="adaptive_expos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36854" y="3063240"/>
            <a:ext cx="4117987" cy="278892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48640" y="5989320"/>
            <a:ext cx="11094415" cy="566928"/>
          </a:xfrm>
          <a:prstGeom prst="roundRect">
            <a:avLst/>
          </a:prstGeom>
          <a:solidFill>
            <a:srgbClr val="EEF5EE"/>
          </a:solidFill>
          <a:ln w="9525">
            <a:solidFill>
              <a:srgbClr val="55A8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2E6B3E"/>
                </a:solidFill>
              </a:rPr>
              <a:t>→ In the code:  </a:t>
            </a:r>
            <a:r>
              <a:rPr sz="1300">
                <a:solidFill>
                  <a:srgbClr val="333333"/>
                </a:solidFill>
              </a:rPr>
              <a:t>rwe/satisfaction.py: WebGraph · SatisfactionModel · AdaptiveRWEB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94415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8B1A1A"/>
                </a:solidFill>
              </a:rPr>
              <a:t>Beyond the paper — agent browsing simulation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70432"/>
            <a:ext cx="11094415" cy="25400"/>
          </a:xfrm>
          <a:prstGeom prst="rect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11094415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</a:rPr>
              <a:t>•  Agent-based model on a networkx web graph (Louvain/Leiden communities).</a:t>
            </a:r>
          </a:p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</a:rPr>
              <a:t>•  State machine: own side → first opposite page → track → exit.</a:t>
            </a:r>
          </a:p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</a:rPr>
              <a:t>•  Tunable α: confirmation bias (α&gt;0) vs "rabbit hole" (α&lt;0); Monte-Carlo scores.</a:t>
            </a:r>
          </a:p>
        </p:txBody>
      </p:sp>
      <p:pic>
        <p:nvPicPr>
          <p:cNvPr id="5" name="Picture 4" descr="alpha_swe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05127" y="3063240"/>
            <a:ext cx="4181440" cy="278892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48640" y="5989320"/>
            <a:ext cx="11094415" cy="566928"/>
          </a:xfrm>
          <a:prstGeom prst="roundRect">
            <a:avLst/>
          </a:prstGeom>
          <a:solidFill>
            <a:srgbClr val="EEF5EE"/>
          </a:solidFill>
          <a:ln w="9525">
            <a:solidFill>
              <a:srgbClr val="55A8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2E6B3E"/>
                </a:solidFill>
              </a:rPr>
              <a:t>→ In the code:  </a:t>
            </a:r>
            <a:r>
              <a:rPr sz="1300">
                <a:solidFill>
                  <a:srgbClr val="333333"/>
                </a:solidFill>
              </a:rPr>
              <a:t>rwe/agent_sim.py: NewsfeedSimulator · monte_carlo · alpha_sweep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94415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8B1A1A"/>
                </a:solidFill>
              </a:rPr>
              <a:t>Beyond the paper — does bridging backfire?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70432"/>
            <a:ext cx="11094415" cy="25400"/>
          </a:xfrm>
          <a:prstGeom prst="rect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11094415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</a:rPr>
              <a:t>•  Risk: naive opposite-view exposure can INCREASE polarization (Bail et al. 2018).</a:t>
            </a:r>
          </a:p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</a:rPr>
              <a:t>•  Simulation: users assimilate nearby views but reject (backfire on) far ones.</a:t>
            </a:r>
          </a:p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</a:rPr>
              <a:t>•  Bounded bridging → opinions converge (depolarize); opposite-blast → diverge.</a:t>
            </a:r>
          </a:p>
        </p:txBody>
      </p:sp>
      <p:pic>
        <p:nvPicPr>
          <p:cNvPr id="5" name="Picture 4" descr="opinion_dynamic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81726" y="3063240"/>
            <a:ext cx="4228241" cy="2788919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48640" y="5989320"/>
            <a:ext cx="11094415" cy="566928"/>
          </a:xfrm>
          <a:prstGeom prst="roundRect">
            <a:avLst/>
          </a:prstGeom>
          <a:solidFill>
            <a:srgbClr val="EEF5EE"/>
          </a:solidFill>
          <a:ln w="9525">
            <a:solidFill>
              <a:srgbClr val="55A8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2E6B3E"/>
                </a:solidFill>
              </a:rPr>
              <a:t>→ In the code:  </a:t>
            </a:r>
            <a:r>
              <a:rPr sz="1300">
                <a:solidFill>
                  <a:srgbClr val="333333"/>
                </a:solidFill>
              </a:rPr>
              <a:t>rwe/opinion_dynamics.py: assimilation–contrast model · compare_policies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94415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8B1A1A"/>
                </a:solidFill>
              </a:rPr>
              <a:t>Beyond the paper — guardrails that catch backfire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70432"/>
            <a:ext cx="11094415" cy="25400"/>
          </a:xfrm>
          <a:prstGeom prst="rect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11094415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</a:rPr>
              <a:t>•  Don't just bound the dose — MONITOR each user and cut it if backfire starts.</a:t>
            </a:r>
          </a:p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</a:rPr>
              <a:t>•  Backfire monitor (ideology drift) + engagement early-warning (satisfaction).</a:t>
            </a:r>
          </a:p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</a:rPr>
              <a:t>•  Un-guarded aggressive dose polarizes; guardrails detect it and depolarize.</a:t>
            </a:r>
          </a:p>
        </p:txBody>
      </p:sp>
      <p:pic>
        <p:nvPicPr>
          <p:cNvPr id="5" name="Picture 4" descr="guardrail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77565" y="3063240"/>
            <a:ext cx="6436564" cy="278892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48640" y="5989320"/>
            <a:ext cx="11094415" cy="566928"/>
          </a:xfrm>
          <a:prstGeom prst="roundRect">
            <a:avLst/>
          </a:prstGeom>
          <a:solidFill>
            <a:srgbClr val="EEF5EE"/>
          </a:solidFill>
          <a:ln w="9525">
            <a:solidFill>
              <a:srgbClr val="55A8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2E6B3E"/>
                </a:solidFill>
              </a:rPr>
              <a:t>→ In the code:  </a:t>
            </a:r>
            <a:r>
              <a:rPr sz="1300">
                <a:solidFill>
                  <a:srgbClr val="333333"/>
                </a:solidFill>
              </a:rPr>
              <a:t>rwe/guardrails.py: BackfireMonitor · EngagementGuardrail · compare_guardrails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94415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8B1A1A"/>
                </a:solidFill>
              </a:rPr>
              <a:t>This implementation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70432"/>
            <a:ext cx="11094415" cy="25400"/>
          </a:xfrm>
          <a:prstGeom prst="rect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479040"/>
            <a:ext cx="11094415" cy="33273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100">
                <a:solidFill>
                  <a:srgbClr val="333333"/>
                </a:solidFill>
              </a:rPr>
              <a:t>•  Full paper in rwe/ (graph, RWE, ideology, baselines, metrics) + 4 extensions.</a:t>
            </a:r>
          </a:p>
          <a:p>
            <a:pPr>
              <a:spcAft>
                <a:spcPts val="1400"/>
              </a:spcAft>
            </a:pPr>
            <a:r>
              <a:rPr sz="2100">
                <a:solidFill>
                  <a:srgbClr val="333333"/>
                </a:solidFill>
              </a:rPr>
              <a:t>•  79 tests — including the worked erasure example reproduced to the decimal.</a:t>
            </a:r>
          </a:p>
          <a:p>
            <a:pPr>
              <a:spcAft>
                <a:spcPts val="1400"/>
              </a:spcAft>
            </a:pPr>
            <a:r>
              <a:rPr sz="2100">
                <a:solidFill>
                  <a:srgbClr val="333333"/>
                </a:solidFill>
              </a:rPr>
              <a:t>•  8 diagrams, a beginner guide (GUIDE.md) and a verification report (TALK.md).</a:t>
            </a:r>
          </a:p>
          <a:p>
            <a:pPr>
              <a:spcAft>
                <a:spcPts val="1400"/>
              </a:spcAft>
            </a:pPr>
            <a:r>
              <a:rPr sz="2100">
                <a:solidFill>
                  <a:srgbClr val="333333"/>
                </a:solidFill>
              </a:rPr>
              <a:t>•  Run:  pip install -e .   ·   pytest -q   ·   python examples/demo_synthetic.py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5989320"/>
            <a:ext cx="11094415" cy="566928"/>
          </a:xfrm>
          <a:prstGeom prst="roundRect">
            <a:avLst/>
          </a:prstGeom>
          <a:solidFill>
            <a:srgbClr val="EEF5EE"/>
          </a:solidFill>
          <a:ln w="9525">
            <a:solidFill>
              <a:srgbClr val="55A8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2E6B3E"/>
                </a:solidFill>
              </a:rPr>
              <a:t>→ In the code:  </a:t>
            </a:r>
            <a:r>
              <a:rPr sz="1300">
                <a:solidFill>
                  <a:srgbClr val="333333"/>
                </a:solidFill>
              </a:rPr>
              <a:t>github: greenwichg/random_walks_with_erasure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94415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8B1A1A"/>
                </a:solidFill>
              </a:rPr>
              <a:t>Thanks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70432"/>
            <a:ext cx="11094415" cy="25400"/>
          </a:xfrm>
          <a:prstGeom prst="rect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753360"/>
            <a:ext cx="11094415" cy="3601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100">
                <a:solidFill>
                  <a:srgbClr val="333333"/>
                </a:solidFill>
              </a:rPr>
              <a:t>•  Paper: Paudel &amp; Bernstein, "Random Walks with Erasure", WWW 2021.</a:t>
            </a:r>
          </a:p>
          <a:p>
            <a:pPr>
              <a:spcAft>
                <a:spcPts val="1400"/>
              </a:spcAft>
            </a:pPr>
            <a:r>
              <a:rPr sz="2100">
                <a:solidFill>
                  <a:srgbClr val="333333"/>
                </a:solidFill>
              </a:rPr>
              <a:t>•  Original talk: Bibek Paudel — @biasedcoin · bibekp@stanford.edu.</a:t>
            </a:r>
          </a:p>
          <a:p>
            <a:pPr>
              <a:spcAft>
                <a:spcPts val="1400"/>
              </a:spcAft>
            </a:pPr>
            <a:r>
              <a:rPr sz="2100">
                <a:solidFill>
                  <a:srgbClr val="333333"/>
                </a:solidFill>
              </a:rPr>
              <a:t>•  Implementation &amp; deck: Sai Sanath Erram, Amrita Vishwa Vidyapeetham</a:t>
            </a:r>
          </a:p>
          <a:p>
            <a:pPr>
              <a:spcAft>
                <a:spcPts val="1400"/>
              </a:spcAft>
            </a:pPr>
            <a:r>
              <a:rPr sz="1900">
                <a:solidFill>
                  <a:srgbClr val="666666"/>
                </a:solidFill>
              </a:rPr>
              <a:t>       –  erram.sanath@gmail.com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